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C1C2E"/>
                </a:solidFill>
              </a:rPr>
              <a:t>Nodes Expanded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Expanded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Dijkstra</c:v>
                </c:pt>
                <c:pt idx="1">
                  <c:v>A* Manhattan</c:v>
                </c:pt>
                <c:pt idx="2">
                  <c:v>A* Euclidean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42</c:v>
                </c:pt>
                <c:pt idx="2">
                  <c:v>42</c:v>
                </c:pt>
              </c:numCache>
            </c:numRef>
          </c:val>
          <c:dPt>
            <c:idx val="0"/>
            <c:spPr>
              <a:solidFill>
                <a:srgbClr val="0284c7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dc6803"/>
              </a:solidFill>
            </c:spPr>
          </c:dPt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A* Pathfinding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5CAE9"/>
                </a:solidFill>
              </a:rPr>
              <a:t>Interactive side-by-side comparison of Dijkstra, A* Manhattan, and A* Euclidean
on weighted grids with terrain, step-through replay, and f/g/h overlays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2E"/>
                </a:solidFill>
              </a:rPr>
              <a:t>Jiaxin Jia  ·  Xiaoyuan Lu  ·  Xinyuan 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6A"/>
                </a:solidFill>
              </a:rPr>
              <a:t>Khoury College of Computer Sciences  ·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6A"/>
                </a:solidFill>
              </a:rPr>
              <a:t>CS5800 — Spring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36576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3886200"/>
            <a:ext cx="164592" cy="1645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Dijkstra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4636008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5902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A* Manhattan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5385816"/>
            <a:ext cx="164592" cy="164592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53400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6803"/>
                </a:solidFill>
              </a:rPr>
              <a:t>A* Euclidean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AE9"/>
                </a:solidFill>
              </a:rPr>
              <a:t>Why build a side-by-side pathfinding visualizer?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57784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Algorithm trade-offs are hard to internalize from pseudocode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The contrast between uninformed and informed search only becomes intuitive when you can watch both exploration frontiers side by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12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Most tools show one algorithm at a time on uniform-cost grids — direct comparison is impossible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25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36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Run Dijkstra, A* Manhattan, and A* Euclidean simultaneously on shared weighted grids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Step-by-step replay with per-cell f/g/h overlays reveal exactly why each algorithm expands each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128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Student feedback confirmed: watching A*'s frontier stay focused while Dijkstra fans out 'clicks' in a way no diagram can replicate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40312" cy="1097280"/>
          </a:xfrm>
          <a:prstGeom prst="rect">
            <a:avLst/>
          </a:prstGeom>
          <a:solidFill>
            <a:srgbClr val="FFF7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13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KEY MOTIVATION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9663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Learning algorithms by watching them — not reading about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Algorithm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AE9"/>
                </a:solidFill>
              </a:rPr>
              <a:t>Three search strategies — same grid, same start/goal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943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Heuristic h(n)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84C7"/>
                </a:solidFill>
              </a:rPr>
              <a:t>0  (uninformed)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334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9504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Baseline; explores uniformly in all directions regardless of goal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3566160" cy="4114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6A"/>
                </a:solidFill>
              </a:rPr>
              <a:t>Note: Blind search — no knowledge of goal 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2816" y="1188720"/>
            <a:ext cx="3749039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1188720"/>
            <a:ext cx="3749039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A* Manhattan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Heuristic h(n)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|Δx| + |Δy|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6334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2889504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Optimized for 4-directional square grids; guides search toward goal using grid distance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4023360"/>
            <a:ext cx="3566160" cy="4114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4069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6A"/>
                </a:solidFill>
              </a:rPr>
              <a:t>Note: Underestimates on diagonal or free-movement grids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1312" y="1188720"/>
            <a:ext cx="3749039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1188720"/>
            <a:ext cx="3749039" cy="594360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A* Euclidean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1920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Heuristic h(n)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6803"/>
                </a:solidFill>
              </a:rPr>
              <a:t>√(Δx² + Δy²)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334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4A6A"/>
                </a:solidFill>
              </a:rPr>
              <a:t>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889504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Straight-line distance heuristic; works for any movement geometry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2752" y="4023360"/>
            <a:ext cx="3566160" cy="4114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4069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6A"/>
                </a:solidFill>
              </a:rPr>
              <a:t>Note: Slightly more exploration than Manhattan on pure grid movement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92240"/>
            <a:ext cx="11640312" cy="256032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6A"/>
                </a:solidFill>
              </a:rPr>
              <a:t>All three use:  f(n) = g(n) + h(n)   where g(n) = cost so far, h(n) = heuristic estimate to goal.  Setting h(n) = 0 recovers Dijkstra.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 &amp; Interactive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3891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38912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36192"/>
            <a:ext cx="4114800" cy="640080"/>
          </a:xfrm>
          <a:prstGeom prst="rect">
            <a:avLst/>
          </a:prstGeom>
          <a:solidFill>
            <a:srgbClr val="1A237E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Mouse / Keyboard events captured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037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04872"/>
            <a:ext cx="41148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414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Grid 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066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</a:rPr>
              <a:t>Shared terrain grid synced across all 3 panels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723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73552"/>
            <a:ext cx="41148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101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Algorithm Engine ×3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7530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</a:rPr>
              <a:t>Independent instances run in lockstep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9410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42232"/>
            <a:ext cx="41148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788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Step Iterator /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439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</a:rPr>
              <a:t>Controls playback speed and step-through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097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7E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10912"/>
            <a:ext cx="41148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474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Canvas Renderer (RAF)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126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6A"/>
                </a:solidFill>
              </a:rPr>
              <a:t>requestAnimationFrame draws each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188720"/>
            <a:ext cx="69494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0" y="1188720"/>
            <a:ext cx="694944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225296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INTERACTIVE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153619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Terrain Painting — </a:t>
            </a:r>
            <a:r>
              <a:rPr sz="1200">
                <a:solidFill>
                  <a:srgbClr val="4A4A6A"/>
                </a:solidFill>
              </a:rPr>
              <a:t>Paint Walls (∞), Grass (×2), Swamp (×5); drag across all 3 panels; right-click to erase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911096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Draggable Endpoints — </a:t>
            </a:r>
            <a:r>
              <a:rPr sz="1200">
                <a:solidFill>
                  <a:srgbClr val="4A4A6A"/>
                </a:solidFill>
              </a:rPr>
              <a:t>Reposition Start / Goal at any time; re-runs automatically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28600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Maze &amp; Preset Generator — </a:t>
            </a:r>
            <a:r>
              <a:rPr sz="1200">
                <a:solidFill>
                  <a:srgbClr val="4A4A6A"/>
                </a:solidFill>
              </a:rPr>
              <a:t>DFS recursive-backtracker maze, random scatter, or barrier presets — one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2660904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Playback Controls — </a:t>
            </a:r>
            <a:r>
              <a:rPr sz="1200">
                <a:solidFill>
                  <a:srgbClr val="4A4A6A"/>
                </a:solidFill>
              </a:rPr>
              <a:t>Run / Pause / Step; four speeds from Slow (300ms) to Max (full-batch, no delay)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03580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f(n) / g(n) / h(n) Overlay — </a:t>
            </a:r>
            <a:r>
              <a:rPr sz="1200">
                <a:solidFill>
                  <a:srgbClr val="4A4A6A"/>
                </a:solidFill>
              </a:rPr>
              <a:t>Toggle per-cell cost values over each panel for deep algorithmic inspection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41071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Live Metrics — </a:t>
            </a:r>
            <a:r>
              <a:rPr sz="1200">
                <a:solidFill>
                  <a:srgbClr val="4A4A6A"/>
                </a:solidFill>
              </a:rPr>
              <a:t>Nodes-expanded counter and path length updated live per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Tool Demo — Three Algorithms Running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AE9"/>
                </a:solidFill>
              </a:rPr>
              <a:t>Same start, same goal, same terrain — different exploration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749039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2588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1965960"/>
            <a:ext cx="301752" cy="301752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46120" y="19659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2860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2588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45920" y="228600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6596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46120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260604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584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2588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0" y="260604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6596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0604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46120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292608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584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2588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45920" y="292608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6596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0604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46120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324612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580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584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2588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45920" y="324612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6596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8600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0604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2608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46120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" y="35661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580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584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2588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4592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6596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8600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0604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2608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46120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5760" y="38862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580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584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2588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4592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96596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28600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0604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2608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46120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65760" y="4206240"/>
            <a:ext cx="301752" cy="301752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580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584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2588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4592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96596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28600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60604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2608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46120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576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8580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584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32588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4592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6596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28600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60604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92608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246120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242816" y="1188720"/>
            <a:ext cx="3749039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79976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A* Manhattan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42816" y="1600200"/>
            <a:ext cx="3749039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3425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5429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97433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29437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1441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934456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54496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74536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894576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214616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33425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5429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97433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29437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1441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3445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25449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574536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894576" y="1965960"/>
            <a:ext cx="301752" cy="301752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214616" y="19659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34256" y="22860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5429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97433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29437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614416" y="228600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93445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25449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57453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89457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214616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334256" y="260604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65429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97433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29437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4416" y="260604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93445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25449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7453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9457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14616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334256" y="292608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65429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97433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29437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614416" y="292608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93445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5449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7453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9457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214616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334256" y="324612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65429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97433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29437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614416" y="324612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93445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25449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57453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89457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14616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334256" y="35661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65429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97433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529437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561441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593445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25449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57453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89457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214616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334256" y="38862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65429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97433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29437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61441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93445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25449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57453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89457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214616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334256" y="4206240"/>
            <a:ext cx="301752" cy="301752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65429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433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9437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61441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93445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25449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57453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89457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214616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33425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65429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97433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29437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61441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3445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5449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57453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89457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214616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11312" y="1188720"/>
            <a:ext cx="3749039" cy="411480"/>
          </a:xfrm>
          <a:prstGeom prst="rect">
            <a:avLst/>
          </a:prstGeom>
          <a:solidFill>
            <a:srgbClr val="DC6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48472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A* Euclidean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211312" y="1600200"/>
            <a:ext cx="3749039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30275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62279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94283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26287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58291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902952" y="1645920"/>
            <a:ext cx="301752" cy="301752"/>
          </a:xfrm>
          <a:prstGeom prst="rect">
            <a:avLst/>
          </a:prstGeom>
          <a:solidFill>
            <a:srgbClr val="FED7A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0222992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543032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863072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183112" y="16459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30275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62279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94283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26287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58291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90295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22299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543032" y="19659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863072" y="1965960"/>
            <a:ext cx="301752" cy="301752"/>
          </a:xfrm>
          <a:prstGeom prst="rect">
            <a:avLst/>
          </a:prstGeom>
          <a:solidFill>
            <a:srgbClr val="DC2626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183112" y="19659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302752" y="22860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62279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94283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26287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82912" y="228600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90295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22299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4303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86307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183112" y="22860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302752" y="260604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62279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94283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6287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82912" y="260604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90295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22299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54303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86307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183112" y="26060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302752" y="292608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62279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94283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26287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582912" y="292608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90295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22299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54303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86307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183112" y="29260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302752" y="324612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62279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94283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26287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582912" y="3246120"/>
            <a:ext cx="301752" cy="301752"/>
          </a:xfrm>
          <a:prstGeom prst="rect">
            <a:avLst/>
          </a:prstGeom>
          <a:solidFill>
            <a:srgbClr val="262630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90295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22299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054303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086307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183112" y="324612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302752" y="356616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62279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94283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26287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58291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90295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22299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54303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86307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183112" y="356616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302752" y="3886200"/>
            <a:ext cx="301752" cy="301752"/>
          </a:xfrm>
          <a:prstGeom prst="rect">
            <a:avLst/>
          </a:prstGeom>
          <a:solidFill>
            <a:srgbClr val="7C3AED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862279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94283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26287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58291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90295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22299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54303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86307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1183112" y="388620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8302752" y="4206240"/>
            <a:ext cx="301752" cy="301752"/>
          </a:xfrm>
          <a:prstGeom prst="rect">
            <a:avLst/>
          </a:prstGeom>
          <a:solidFill>
            <a:srgbClr val="16A34A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862279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94283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26287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958291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990295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22299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54303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86307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183112" y="420624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30275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62279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894283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926287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958291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90295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22299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54303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86307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1183112" y="4526280"/>
            <a:ext cx="30175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457200" y="576072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13232" y="5733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Start (S)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788920" y="576072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3044952" y="5733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Goal (G)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120640" y="5760720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5376672" y="5733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Optimal path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7452360" y="5760720"/>
            <a:ext cx="201168" cy="201168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7708392" y="5733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Expanded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784080" y="5760720"/>
            <a:ext cx="201168" cy="201168"/>
          </a:xfrm>
          <a:prstGeom prst="rect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0040112" y="5733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6A"/>
                </a:solidFill>
              </a:rPr>
              <a:t>Wall (∞)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Performance Results &amp;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CAE9"/>
                </a:solidFill>
              </a:rPr>
              <a:t>10×10 square grid, seed = 42  —  identical start / goal /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188720"/>
          <a:ext cx="5943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0" y="1188720"/>
            <a:ext cx="5303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188720"/>
            <a:ext cx="530352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25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RESULTS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490472"/>
            <a:ext cx="5303520" cy="3657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179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5179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Path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5179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Nodes Expanded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53035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Dijkstra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9659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965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84C7"/>
                </a:solidFill>
              </a:rPr>
              <a:t>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350008"/>
            <a:ext cx="5303520" cy="411480"/>
          </a:xfrm>
          <a:prstGeom prst="rect">
            <a:avLst/>
          </a:prstGeom>
          <a:solidFill>
            <a:srgbClr val="F9FFFB"/>
          </a:solidFill>
          <a:ln w="3810">
            <a:solidFill>
              <a:srgbClr val="F0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3957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A* Manhattan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3957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3957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42  ↓ 24%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779776"/>
            <a:ext cx="53035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8254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6803"/>
                </a:solidFill>
              </a:rPr>
              <a:t>A* Euclidean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254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6A"/>
                </a:solidFill>
              </a:rP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82549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6803"/>
                </a:solidFill>
              </a:rPr>
              <a:t>42  ↓ 24%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297680"/>
            <a:ext cx="5303520" cy="1920240"/>
          </a:xfrm>
          <a:prstGeom prst="rect">
            <a:avLst/>
          </a:prstGeom>
          <a:solidFill>
            <a:srgbClr val="FFF7E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370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KEY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663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</a:rPr>
              <a:t>A* reduces node expansions by ~24%
compared to Dijkstra while always
guaranteeing the same optimal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Northeastern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WHAT WE BUILT &amp;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Built a browser-based tool that runs three pathfinding algorithms simultaneously on shared weighted grids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9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Confirmed that heuristic choice has a measurable ~24% efficiency impact on node expansions without sacrificing path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225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Demonstrated that direct manipulation and live visualization are more effective for building intuition than static diagrams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5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4A6A"/>
                </a:solidFill>
              </a:rPr>
              <a:t>• Terrain weighting (Grass ×2, Swamp ×5) adds real-world complexity that textbook uniform grids omit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760720" cy="310896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252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7E"/>
                </a:solidFill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36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Hex Grid Support — </a:t>
            </a:r>
            <a:r>
              <a:rPr sz="1200">
                <a:solidFill>
                  <a:srgbClr val="4A4A6A"/>
                </a:solidFill>
              </a:rPr>
              <a:t>Extend to hexagonal grids for 6-directional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47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Bidirectional A* — </a:t>
            </a:r>
            <a:r>
              <a:rPr sz="1200">
                <a:solidFill>
                  <a:srgbClr val="4A4A6A"/>
                </a:solidFill>
              </a:rPr>
              <a:t>Run search from both Start and Goal simultaneously to further reduce expansions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59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CSV Export — </a:t>
            </a:r>
            <a:r>
              <a:rPr sz="1200">
                <a:solidFill>
                  <a:srgbClr val="4A4A6A"/>
                </a:solidFill>
              </a:rPr>
              <a:t>Export benchmark data (nodes expanded, path cost, time) for offline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70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More Algorithms — </a:t>
            </a:r>
            <a:r>
              <a:rPr sz="1200">
                <a:solidFill>
                  <a:srgbClr val="4A4A6A"/>
                </a:solidFill>
              </a:rPr>
              <a:t>Add Greedy Best-First, JPS (Jump Point Search), and weighted A* 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82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C2E"/>
                </a:solidFill>
              </a:rPr>
              <a:t>Shareable Configs — </a:t>
            </a:r>
            <a:r>
              <a:rPr sz="1200">
                <a:solidFill>
                  <a:srgbClr val="4A4A6A"/>
                </a:solidFill>
              </a:rPr>
              <a:t>URL-encoded grid state so users can share specific puzzle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