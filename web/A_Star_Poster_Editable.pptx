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21945600"/>
          </a:xfrm>
          <a:prstGeom prst="rect">
            <a:avLst/>
          </a:prstGeom>
          <a:solidFill>
            <a:srgbClr val="DD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0" cy="3154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6002000" cy="148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900" b="1" i="0">
                <a:solidFill>
                  <a:srgbClr val="FFFFFF"/>
                </a:solidFill>
              </a:rPr>
              <a:t>A* Pathfinding Visualizer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600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C5CAE9"/>
                </a:solidFill>
              </a:rPr>
              <a:t>Jiaxin Jia    ·    Xiaoyuan Lu    ·    Xinyuan Fan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83180"/>
            <a:ext cx="1600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FA8DA"/>
                </a:solidFill>
              </a:rPr>
              <a:t>Khoury College of Computer Sciences  ·  Northeastern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117800" y="868680"/>
            <a:ext cx="4114800" cy="148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 b="1" i="0">
                <a:solidFill>
                  <a:srgbClr val="FFFFFF"/>
                </a:solidFill>
              </a:rPr>
              <a:t>Northeastern
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" y="3451860"/>
            <a:ext cx="105613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7180" y="3451860"/>
            <a:ext cx="10561320" cy="6629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" y="3543300"/>
            <a:ext cx="10195560" cy="52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ABSTRACT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" y="4251960"/>
            <a:ext cx="10104120" cy="2171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2E"/>
                </a:solidFill>
              </a:rPr>
              <a:t>An interactive browser-based tool running Dijkstra, A* Manhattan, and A* Euclidean side-by-side on weighted grids. Users paint walls (∞), grass (×2), and swamps (×5), then watch all three execute with per-cell f(n)/g(n)/h(n) overlays. Benchmarks confirm A* cuts node expansions by ~24% vs Dijkstra on identical paths.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" y="7086600"/>
            <a:ext cx="1056132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7180" y="7086600"/>
            <a:ext cx="10561320" cy="6629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" y="7178040"/>
            <a:ext cx="10195560" cy="52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BACKGROUND &amp; MOTIVATION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" y="7886700"/>
            <a:ext cx="10104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2E"/>
                </a:solidFill>
              </a:rPr>
              <a:t>Algorithm trade-offs are hard to internalize from pseudocode alone — the contrast between uninformed and informed search only becomes intuitive when you can watch both exploration frontiers side by side in real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" y="9258300"/>
            <a:ext cx="10104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2E"/>
                </a:solidFill>
              </a:rPr>
              <a:t>Most tools show one algorithm at a time on uniform-cost grids, making direct comparison impossible. This project closes that gap: Dijkstra, A* Manhattan, and A* Euclidean run simultaneously on shared weighted grids, with step-by-step replay and per-cell f/g/h overlays that reveal exactly why each algorithm expands each node.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" y="11041380"/>
            <a:ext cx="10104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2E"/>
                </a:solidFill>
              </a:rPr>
              <a:t>Student feedback during development confirmed the core gap: watching A*'s frontier stay focused while Dijkstra fans out in all directions builds intuition no static textbook diagram can replicate.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" y="12230100"/>
            <a:ext cx="105613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7180" y="12230100"/>
            <a:ext cx="10561320" cy="6629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" y="12321540"/>
            <a:ext cx="10195560" cy="52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ALGORITHM OVERVIEW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" y="12893040"/>
            <a:ext cx="10561320" cy="4572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" y="129616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Algorithm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1860" y="12961620"/>
            <a:ext cx="33147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Heuristic h(n)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6580" y="12961620"/>
            <a:ext cx="40005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Best suited for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" y="13441680"/>
            <a:ext cx="2514600" cy="3886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Dijkstra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1860" y="13464540"/>
            <a:ext cx="33147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2E"/>
                </a:solidFill>
              </a:rPr>
              <a:t>0  (uninformed)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6580" y="13464540"/>
            <a:ext cx="40005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6A"/>
                </a:solidFill>
              </a:rPr>
              <a:t>Baseline; always optimal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7180" y="13944600"/>
            <a:ext cx="10561320" cy="59436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" y="14036040"/>
            <a:ext cx="2514600" cy="3886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A* Manhattan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1860" y="14058900"/>
            <a:ext cx="33147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2E"/>
                </a:solidFill>
              </a:rPr>
              <a:t>|Δx| + |Δy|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6580" y="14058900"/>
            <a:ext cx="40005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6A"/>
                </a:solidFill>
              </a:rPr>
              <a:t>Square 4-way grids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" y="14630400"/>
            <a:ext cx="2514600" cy="388620"/>
          </a:xfrm>
          <a:prstGeom prst="rect">
            <a:avLst/>
          </a:prstGeom>
          <a:solidFill>
            <a:srgbClr val="DC6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A* Euclidean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1860" y="14653260"/>
            <a:ext cx="33147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2E"/>
                </a:solidFill>
              </a:rPr>
              <a:t>√(Δx² + Δy²)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6580" y="14653260"/>
            <a:ext cx="40005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6A"/>
                </a:solidFill>
              </a:rPr>
              <a:t>Any grid geometry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7180" y="16093440"/>
            <a:ext cx="105613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7180" y="16093440"/>
            <a:ext cx="10561320" cy="6629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" y="16184880"/>
            <a:ext cx="10195560" cy="52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CONCLUSION &amp; FUTURE 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" y="16893540"/>
            <a:ext cx="10104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2E"/>
                </a:solidFill>
              </a:rPr>
              <a:t>Students often find informed-search concepts hard to internalize from pseudocode alone — cost trade-offs and frontier dynamics only "click" when made visible. This tool was built to close that gap.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" y="18402300"/>
            <a:ext cx="10104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2E"/>
                </a:solidFill>
              </a:rPr>
              <a:t>The visualizer confirms heuristic choice has a measurable impact on efficiency. Learners build intuition through direct manipulation, not passive reading. Planned: hex grid support, bidirectional A*, CSV export.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155680" y="3451860"/>
            <a:ext cx="10561320" cy="6240780"/>
          </a:xfrm>
          <a:prstGeom prst="rect">
            <a:avLst/>
          </a:prstGeom>
          <a:solidFill>
            <a:srgbClr val="FFFF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155680" y="3451860"/>
            <a:ext cx="10561320" cy="6629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338560" y="3543300"/>
            <a:ext cx="10195560" cy="52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TOOL USER FLOW &amp; SYSTEM ARCHITECTURE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4206240"/>
            <a:ext cx="42291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USER FLOW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567160" y="4572000"/>
            <a:ext cx="3611880" cy="640080"/>
          </a:xfrm>
          <a:prstGeom prst="roundRect">
            <a:avLst/>
          </a:prstGeom>
          <a:solidFill>
            <a:srgbClr val="1A237E"/>
          </a:solidFill>
          <a:ln w="63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567160" y="5532120"/>
            <a:ext cx="3611880" cy="640080"/>
          </a:xfrm>
          <a:prstGeom prst="roundRect">
            <a:avLst/>
          </a:prstGeom>
          <a:solidFill>
            <a:srgbClr val="E8EAF6"/>
          </a:solidFill>
          <a:ln w="63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237E"/>
                </a:solidFill>
              </a:rPr>
              <a:t>Configure Grid &amp;
Paint Terrain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567160" y="521208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7E"/>
                </a:solidFill>
              </a:rPr>
              <a:t>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567160" y="6492240"/>
            <a:ext cx="3611880" cy="640080"/>
          </a:xfrm>
          <a:prstGeom prst="roundRect">
            <a:avLst/>
          </a:prstGeom>
          <a:solidFill>
            <a:srgbClr val="E8EAF6"/>
          </a:solidFill>
          <a:ln w="63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237E"/>
                </a:solidFill>
              </a:rPr>
              <a:t>Choose Speed &amp; Run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67160" y="617220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7E"/>
                </a:solidFill>
              </a:rPr>
              <a:t>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567160" y="7452360"/>
            <a:ext cx="3611880" cy="640080"/>
          </a:xfrm>
          <a:prstGeom prst="roundRect">
            <a:avLst/>
          </a:prstGeom>
          <a:solidFill>
            <a:srgbClr val="E8EAF6"/>
          </a:solidFill>
          <a:ln w="63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237E"/>
                </a:solidFill>
              </a:rPr>
              <a:t>Watch 3 Algorithms Live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67160" y="713232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7E"/>
                </a:solidFill>
              </a:rPr>
              <a:t>↓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567160" y="8412480"/>
            <a:ext cx="3611880" cy="640080"/>
          </a:xfrm>
          <a:prstGeom prst="roundRect">
            <a:avLst/>
          </a:prstGeom>
          <a:solidFill>
            <a:srgbClr val="E8EAF6"/>
          </a:solidFill>
          <a:ln w="63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237E"/>
                </a:solidFill>
              </a:rPr>
              <a:t>Compare Nodes &amp; Path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67160" y="809244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7E"/>
                </a:solidFill>
              </a:rPr>
              <a:t>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727180" y="928116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A4A6A"/>
                </a:solidFill>
              </a:rPr>
              <a:t>↕  Adjust &amp; Re-run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727680" y="4160520"/>
            <a:ext cx="22860" cy="12541910400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910560" y="420624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ARCHITECTURE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956280" y="4572000"/>
            <a:ext cx="5372100" cy="685800"/>
          </a:xfrm>
          <a:prstGeom prst="rect">
            <a:avLst/>
          </a:prstGeom>
          <a:solidFill>
            <a:srgbClr val="E8EAF6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A237E"/>
                </a:solidFill>
              </a:rPr>
              <a:t>User Input
(Mouse / KB)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956280" y="5577840"/>
            <a:ext cx="5372100" cy="685800"/>
          </a:xfrm>
          <a:prstGeom prst="rect">
            <a:avLst/>
          </a:prstGeom>
          <a:solidFill>
            <a:srgbClr val="E8EAF6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A237E"/>
                </a:solidFill>
              </a:rPr>
              <a:t>Grid State
Manager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956280" y="5257800"/>
            <a:ext cx="53721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7E"/>
                </a:solidFill>
              </a:rPr>
              <a:t>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956280" y="6583680"/>
            <a:ext cx="5372100" cy="685800"/>
          </a:xfrm>
          <a:prstGeom prst="rect">
            <a:avLst/>
          </a:prstGeom>
          <a:solidFill>
            <a:srgbClr val="E8EAF6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A237E"/>
                </a:solidFill>
              </a:rPr>
              <a:t>Algorithm Engine ×3
(Strategy Pattern)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956280" y="6263640"/>
            <a:ext cx="53721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7E"/>
                </a:solidFill>
              </a:rPr>
              <a:t>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956280" y="7589520"/>
            <a:ext cx="5372100" cy="685800"/>
          </a:xfrm>
          <a:prstGeom prst="rect">
            <a:avLst/>
          </a:prstGeom>
          <a:solidFill>
            <a:srgbClr val="E8EAF6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A237E"/>
                </a:solidFill>
              </a:rPr>
              <a:t>Step Iterator / Scheduler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956280" y="7269480"/>
            <a:ext cx="53721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7E"/>
                </a:solidFill>
              </a:rPr>
              <a:t>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956280" y="8595360"/>
            <a:ext cx="5372100" cy="685800"/>
          </a:xfrm>
          <a:prstGeom prst="rect">
            <a:avLst/>
          </a:prstGeom>
          <a:solidFill>
            <a:srgbClr val="E8EAF6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A237E"/>
                </a:solidFill>
              </a:rPr>
              <a:t>Canvas Renderer (RAF)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956280" y="8275320"/>
            <a:ext cx="53721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7E"/>
                </a:solidFill>
              </a:rPr>
              <a:t>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155680" y="9989820"/>
            <a:ext cx="10561320" cy="5806440"/>
          </a:xfrm>
          <a:prstGeom prst="rect">
            <a:avLst/>
          </a:prstGeom>
          <a:solidFill>
            <a:srgbClr val="FFFF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155680" y="9989820"/>
            <a:ext cx="10561320" cy="6629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338560" y="10081260"/>
            <a:ext cx="10195560" cy="52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INTERACTIVE FEATURES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338560" y="10858500"/>
            <a:ext cx="297180" cy="29718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750040" y="10767060"/>
            <a:ext cx="9829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C2E"/>
                </a:solidFill>
              </a:rPr>
              <a:t>Terrain Painting — </a:t>
            </a:r>
            <a:r>
              <a:rPr sz="1500">
                <a:solidFill>
                  <a:srgbClr val="4A4A6A"/>
                </a:solidFill>
              </a:rPr>
              <a:t>Drag to paint Walls (∞), Grass (×2), or Swamp (×5) across all three panels; right-click to erase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338560" y="11681460"/>
            <a:ext cx="297180" cy="2971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750040" y="11590020"/>
            <a:ext cx="9829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C2E"/>
                </a:solidFill>
              </a:rPr>
              <a:t>Draggable Endpoints — </a:t>
            </a:r>
            <a:r>
              <a:rPr sz="1500">
                <a:solidFill>
                  <a:srgbClr val="4A4A6A"/>
                </a:solidFill>
              </a:rPr>
              <a:t>Reposition Start / Goal at any time; re-runs automatically on next playback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338560" y="12504420"/>
            <a:ext cx="297180" cy="2971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750040" y="12412980"/>
            <a:ext cx="9829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C2E"/>
                </a:solidFill>
              </a:rPr>
              <a:t>Maze &amp; Preset Generator — </a:t>
            </a:r>
            <a:r>
              <a:rPr sz="1500">
                <a:solidFill>
                  <a:srgbClr val="4A4A6A"/>
                </a:solidFill>
              </a:rPr>
              <a:t>DFS recursive-backtracker maze, random scatter, or barrier presets — one toolbar click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338560" y="13327380"/>
            <a:ext cx="297180" cy="2971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750040" y="13235940"/>
            <a:ext cx="9829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C2E"/>
                </a:solidFill>
              </a:rPr>
              <a:t>Playback Controls — </a:t>
            </a:r>
            <a:r>
              <a:rPr sz="1500">
                <a:solidFill>
                  <a:srgbClr val="4A4A6A"/>
                </a:solidFill>
              </a:rPr>
              <a:t>Run / Pause / Step; four speeds from Slow (300 ms) to Max (full-batch, no delay)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338560" y="14150340"/>
            <a:ext cx="297180" cy="2971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750040" y="14058900"/>
            <a:ext cx="9829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C2E"/>
                </a:solidFill>
              </a:rPr>
              <a:t>f(n) / g(n) / h(n) Overlay — </a:t>
            </a:r>
            <a:r>
              <a:rPr sz="1500">
                <a:solidFill>
                  <a:srgbClr val="4A4A6A"/>
                </a:solidFill>
              </a:rPr>
              <a:t>Toggle per-cell cost values over each panel for deep algorithmic inspection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338560" y="14973300"/>
            <a:ext cx="297180" cy="2971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750040" y="14881860"/>
            <a:ext cx="9829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C2E"/>
                </a:solidFill>
              </a:rPr>
              <a:t>Live Metrics — </a:t>
            </a:r>
            <a:r>
              <a:rPr sz="1500">
                <a:solidFill>
                  <a:srgbClr val="4A4A6A"/>
                </a:solidFill>
              </a:rPr>
              <a:t>Nodes-expanded counter and path length updated live, per panel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155680" y="16093440"/>
            <a:ext cx="105613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1155680" y="16093440"/>
            <a:ext cx="10561320" cy="6629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338560" y="16184880"/>
            <a:ext cx="10195560" cy="52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VISUALIZATION DESIGN &amp; COLOR SYSTEM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384280" y="16847820"/>
            <a:ext cx="10104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2E"/>
                </a:solidFill>
              </a:rPr>
              <a:t>Purpose-built palette encodes cell states at a glance: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338560" y="17259300"/>
            <a:ext cx="297180" cy="2971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727180" y="17236440"/>
            <a:ext cx="21259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6A"/>
                </a:solidFill>
              </a:rPr>
              <a:t>Start (S)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3921740" y="17259300"/>
            <a:ext cx="297180" cy="2971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4310360" y="17236440"/>
            <a:ext cx="21259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6A"/>
                </a:solidFill>
              </a:rPr>
              <a:t>Goal (G)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6504920" y="17259300"/>
            <a:ext cx="297180" cy="29718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6893540" y="17236440"/>
            <a:ext cx="21259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6A"/>
                </a:solidFill>
              </a:rPr>
              <a:t>Open set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088100" y="17259300"/>
            <a:ext cx="297180" cy="29718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9476720" y="17236440"/>
            <a:ext cx="21259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6A"/>
                </a:solidFill>
              </a:rPr>
              <a:t>Expanded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338560" y="17716500"/>
            <a:ext cx="297180" cy="2971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727180" y="17693640"/>
            <a:ext cx="21259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6A"/>
                </a:solidFill>
              </a:rPr>
              <a:t>Optimal path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921740" y="17716500"/>
            <a:ext cx="297180" cy="297180"/>
          </a:xfrm>
          <a:prstGeom prst="rect">
            <a:avLst/>
          </a:prstGeom>
          <a:solidFill>
            <a:srgbClr val="78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4310360" y="17693640"/>
            <a:ext cx="21259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6A"/>
                </a:solidFill>
              </a:rPr>
              <a:t>Grass (×2)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6504920" y="17716500"/>
            <a:ext cx="297180" cy="297180"/>
          </a:xfrm>
          <a:prstGeom prst="rect">
            <a:avLst/>
          </a:prstGeom>
          <a:solidFill>
            <a:srgbClr val="82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6893540" y="17693640"/>
            <a:ext cx="21259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6A"/>
                </a:solidFill>
              </a:rPr>
              <a:t>Swamp (×5)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088100" y="17716500"/>
            <a:ext cx="297180" cy="297180"/>
          </a:xfrm>
          <a:prstGeom prst="rect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9476720" y="17693640"/>
            <a:ext cx="21259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6A"/>
                </a:solidFill>
              </a:rPr>
              <a:t>Wall (∞)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384280" y="18265140"/>
            <a:ext cx="10104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A4A6A"/>
                </a:solidFill>
              </a:rPr>
              <a:t>Algorithm panels share Start, Goal and Path colors for direct comparison. Open-set blue reveals the live frontier; expanded orange marks processed nodes. Terrain colors are visually distinct from algorithm-state colors to prevent misreading.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2014180" y="3451860"/>
            <a:ext cx="10561320" cy="7360920"/>
          </a:xfrm>
          <a:prstGeom prst="rect">
            <a:avLst/>
          </a:prstGeom>
          <a:solidFill>
            <a:srgbClr val="FFFF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2014180" y="3451860"/>
            <a:ext cx="10561320" cy="6629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2197060" y="3543300"/>
            <a:ext cx="10195560" cy="52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TOOL DEMO — THREE ALGORITHMS RUNNING IN PARALLEL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151340" y="4206240"/>
            <a:ext cx="10287000" cy="502920"/>
          </a:xfrm>
          <a:prstGeom prst="rect">
            <a:avLst/>
          </a:prstGeom>
          <a:solidFill>
            <a:srgbClr val="8AA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2242780" y="4274820"/>
            <a:ext cx="10104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Walls  Erase  Grass  Swamp  Start  Goal  Predict  Maze  Barrier  Random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151340" y="4709160"/>
            <a:ext cx="10287000" cy="365760"/>
          </a:xfrm>
          <a:prstGeom prst="rect">
            <a:avLst/>
          </a:prstGeom>
          <a:solidFill>
            <a:srgbClr val="CDD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2242780" y="4754880"/>
            <a:ext cx="10104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2E"/>
                </a:solidFill>
              </a:rPr>
              <a:t>Run ▶  ‖ Pause  Step →  Reset  Clear  Slow  Med  Fast  Max  f(n) vals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2151340" y="5097780"/>
            <a:ext cx="2994660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2219920" y="5143500"/>
            <a:ext cx="21717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Dijkstra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4323040" y="5143500"/>
            <a:ext cx="8001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exp: 55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215769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248916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282063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315210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348357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381504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414651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447798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480945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514092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215769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248916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282063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315210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348357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381504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414651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447798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4809450" y="5801360"/>
            <a:ext cx="318770" cy="318770"/>
          </a:xfrm>
          <a:prstGeom prst="rect">
            <a:avLst/>
          </a:prstGeom>
          <a:solidFill>
            <a:srgbClr val="DC2626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5140920" y="580136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2157690" y="613283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248916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282063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315210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3483570" y="6132830"/>
            <a:ext cx="318770" cy="318770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381504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414651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447798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480945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514092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2157690" y="646430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22489160" y="6464300"/>
            <a:ext cx="318770" cy="318770"/>
          </a:xfrm>
          <a:prstGeom prst="rect">
            <a:avLst/>
          </a:prstGeom>
          <a:solidFill>
            <a:srgbClr val="78C34B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2820630" y="6464300"/>
            <a:ext cx="318770" cy="318770"/>
          </a:xfrm>
          <a:prstGeom prst="rect">
            <a:avLst/>
          </a:prstGeom>
          <a:solidFill>
            <a:srgbClr val="78C34B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3152100" y="646430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3483570" y="6464300"/>
            <a:ext cx="318770" cy="318770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3815040" y="646430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4146510" y="646430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4477980" y="646430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24809450" y="646430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25140920" y="646430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22157690" y="679577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2489160" y="6795770"/>
            <a:ext cx="318770" cy="318770"/>
          </a:xfrm>
          <a:prstGeom prst="rect">
            <a:avLst/>
          </a:prstGeom>
          <a:solidFill>
            <a:srgbClr val="78C34B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2820630" y="6795770"/>
            <a:ext cx="318770" cy="318770"/>
          </a:xfrm>
          <a:prstGeom prst="rect">
            <a:avLst/>
          </a:prstGeom>
          <a:solidFill>
            <a:srgbClr val="78C34B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23152100" y="679577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23483570" y="6795770"/>
            <a:ext cx="318770" cy="318770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23815040" y="679577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4146510" y="679577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24477980" y="679577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24809450" y="679577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25140920" y="679577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22157690" y="712724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2248916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2282063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2315210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23483570" y="7127240"/>
            <a:ext cx="318770" cy="318770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2381504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2414651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2447798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2480945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2514092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22157690" y="745871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2248916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282063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2315210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348357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3815040" y="7458710"/>
            <a:ext cx="318770" cy="318770"/>
          </a:xfrm>
          <a:prstGeom prst="rect">
            <a:avLst/>
          </a:prstGeom>
          <a:solidFill>
            <a:srgbClr val="825A28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2414651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2447798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2480945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2514092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22157690" y="779018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2248916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2282063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2315210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2348357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23815040" y="7790180"/>
            <a:ext cx="318770" cy="318770"/>
          </a:xfrm>
          <a:prstGeom prst="rect">
            <a:avLst/>
          </a:prstGeom>
          <a:solidFill>
            <a:srgbClr val="825A28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2414651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2447798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2480945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2514092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22157690" y="8121650"/>
            <a:ext cx="318770" cy="318770"/>
          </a:xfrm>
          <a:prstGeom prst="rect">
            <a:avLst/>
          </a:prstGeom>
          <a:solidFill>
            <a:srgbClr val="16A34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2248916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2282063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2315210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2348357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2381504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2414651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2447798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2480945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2514092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2215769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2248916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2282063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2315210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2348357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2381504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2414651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2447798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2480945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2514092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25260300" y="5097780"/>
            <a:ext cx="29946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25328880" y="5143500"/>
            <a:ext cx="21717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A* Manhattan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7432000" y="5143500"/>
            <a:ext cx="8001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exp: 42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2526665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2559812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2592959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2626106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2659253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26924000" y="546989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27255470" y="546989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27586940" y="546989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27918410" y="546989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28249880" y="546989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2526665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2559812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592959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2626106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2659253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2692400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2725547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2758694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27918410" y="5801360"/>
            <a:ext cx="318770" cy="318770"/>
          </a:xfrm>
          <a:prstGeom prst="rect">
            <a:avLst/>
          </a:prstGeom>
          <a:solidFill>
            <a:srgbClr val="DC2626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8249880" y="580136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25266650" y="613283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2559812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2592959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2626106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26592530" y="6132830"/>
            <a:ext cx="318770" cy="318770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2692400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2725547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2758694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2791841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2824988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25266650" y="646430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25598120" y="6464300"/>
            <a:ext cx="318770" cy="318770"/>
          </a:xfrm>
          <a:prstGeom prst="rect">
            <a:avLst/>
          </a:prstGeom>
          <a:solidFill>
            <a:srgbClr val="78C34B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25929590" y="6464300"/>
            <a:ext cx="318770" cy="318770"/>
          </a:xfrm>
          <a:prstGeom prst="rect">
            <a:avLst/>
          </a:prstGeom>
          <a:solidFill>
            <a:srgbClr val="78C34B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26261060" y="646430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26592530" y="6464300"/>
            <a:ext cx="318770" cy="318770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26924000" y="646430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7255470" y="646430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27586940" y="646430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27918410" y="646430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28249880" y="646430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25266650" y="679577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25598120" y="6795770"/>
            <a:ext cx="318770" cy="318770"/>
          </a:xfrm>
          <a:prstGeom prst="rect">
            <a:avLst/>
          </a:prstGeom>
          <a:solidFill>
            <a:srgbClr val="78C34B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25929590" y="6795770"/>
            <a:ext cx="318770" cy="318770"/>
          </a:xfrm>
          <a:prstGeom prst="rect">
            <a:avLst/>
          </a:prstGeom>
          <a:solidFill>
            <a:srgbClr val="78C34B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26261060" y="679577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26592530" y="6795770"/>
            <a:ext cx="318770" cy="318770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26924000" y="679577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27255470" y="679577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27586940" y="679577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27918410" y="679577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28249880" y="679577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25266650" y="712724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2559812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2592959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2626106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26592530" y="7127240"/>
            <a:ext cx="318770" cy="318770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2692400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2725547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2758694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2791841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2824988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25266650" y="745871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2559812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2592959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2626106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2659253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26924000" y="7458710"/>
            <a:ext cx="318770" cy="318770"/>
          </a:xfrm>
          <a:prstGeom prst="rect">
            <a:avLst/>
          </a:prstGeom>
          <a:solidFill>
            <a:srgbClr val="825A28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2725547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2758694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2791841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2824988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25266650" y="779018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2559812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2592959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2626106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2659253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26924000" y="7790180"/>
            <a:ext cx="318770" cy="318770"/>
          </a:xfrm>
          <a:prstGeom prst="rect">
            <a:avLst/>
          </a:prstGeom>
          <a:solidFill>
            <a:srgbClr val="825A28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2725547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2758694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2791841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2824988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25266650" y="8121650"/>
            <a:ext cx="318770" cy="318770"/>
          </a:xfrm>
          <a:prstGeom prst="rect">
            <a:avLst/>
          </a:prstGeom>
          <a:solidFill>
            <a:srgbClr val="16A34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2559812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592959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2626106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2659253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2692400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2725547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2758694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2791841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2824988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2526665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2559812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2592959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2626106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2659253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2692400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2725547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2758694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2791841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2824988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28369260" y="5097780"/>
            <a:ext cx="2994660" cy="365760"/>
          </a:xfrm>
          <a:prstGeom prst="rect">
            <a:avLst/>
          </a:prstGeom>
          <a:solidFill>
            <a:srgbClr val="DC6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28437840" y="5143500"/>
            <a:ext cx="21717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A* Euclidean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30540960" y="5143500"/>
            <a:ext cx="8001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exp: 42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2837561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2870708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2903855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2937002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29701490" y="5469890"/>
            <a:ext cx="318770" cy="318770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30032960" y="546989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30364430" y="546989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30695900" y="546989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31027370" y="546989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31358840" y="546989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2837561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2870708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2903855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937002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2970149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3003296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036443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30695900" y="580136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31027370" y="5801360"/>
            <a:ext cx="318770" cy="318770"/>
          </a:xfrm>
          <a:prstGeom prst="rect">
            <a:avLst/>
          </a:prstGeom>
          <a:solidFill>
            <a:srgbClr val="DC2626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31358840" y="580136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28375610" y="613283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2870708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2903855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2937002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29701490" y="6132830"/>
            <a:ext cx="318770" cy="318770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3003296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3036443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3069590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3102737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31358840" y="613283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28375610" y="646430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28707080" y="6464300"/>
            <a:ext cx="318770" cy="318770"/>
          </a:xfrm>
          <a:prstGeom prst="rect">
            <a:avLst/>
          </a:prstGeom>
          <a:solidFill>
            <a:srgbClr val="78C34B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29038550" y="6464300"/>
            <a:ext cx="318770" cy="318770"/>
          </a:xfrm>
          <a:prstGeom prst="rect">
            <a:avLst/>
          </a:prstGeom>
          <a:solidFill>
            <a:srgbClr val="78C34B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29370020" y="646430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29701490" y="6464300"/>
            <a:ext cx="318770" cy="318770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30032960" y="646430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30364430" y="646430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30695900" y="646430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31027370" y="646430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31358840" y="646430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28375610" y="679577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28707080" y="6795770"/>
            <a:ext cx="318770" cy="318770"/>
          </a:xfrm>
          <a:prstGeom prst="rect">
            <a:avLst/>
          </a:prstGeom>
          <a:solidFill>
            <a:srgbClr val="78C34B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29038550" y="6795770"/>
            <a:ext cx="318770" cy="318770"/>
          </a:xfrm>
          <a:prstGeom prst="rect">
            <a:avLst/>
          </a:prstGeom>
          <a:solidFill>
            <a:srgbClr val="78C34B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29370020" y="679577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29701490" y="6795770"/>
            <a:ext cx="318770" cy="318770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30032960" y="679577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30364430" y="679577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30695900" y="679577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31027370" y="679577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31358840" y="679577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28375610" y="712724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2870708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2903855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2937002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29701490" y="7127240"/>
            <a:ext cx="318770" cy="318770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3003296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3036443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3069590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3102737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31358840" y="712724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28375610" y="745871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2870708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2903855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2937002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2970149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30032960" y="7458710"/>
            <a:ext cx="318770" cy="318770"/>
          </a:xfrm>
          <a:prstGeom prst="rect">
            <a:avLst/>
          </a:prstGeom>
          <a:solidFill>
            <a:srgbClr val="825A28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3036443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3069590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3102737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31358840" y="745871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28375610" y="7790180"/>
            <a:ext cx="318770" cy="318770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2870708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2903855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2937002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2970149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30032960" y="7790180"/>
            <a:ext cx="318770" cy="318770"/>
          </a:xfrm>
          <a:prstGeom prst="rect">
            <a:avLst/>
          </a:prstGeom>
          <a:solidFill>
            <a:srgbClr val="825A28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3036443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3069590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3102737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31358840" y="779018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28375610" y="8121650"/>
            <a:ext cx="318770" cy="318770"/>
          </a:xfrm>
          <a:prstGeom prst="rect">
            <a:avLst/>
          </a:prstGeom>
          <a:solidFill>
            <a:srgbClr val="16A34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2870708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2903855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2937002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2970149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3003296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3036443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3069590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3102737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31358840" y="812165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2837561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2870708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2903855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2937002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2970149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3003296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3036443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3069590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3102737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31358840" y="8453120"/>
            <a:ext cx="318770" cy="31877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22151340" y="8823960"/>
            <a:ext cx="10287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A4A6A"/>
                </a:solidFill>
              </a:rPr>
              <a:t>Dijkstra (left) expands more nodes than A* Manhattan (centre) and A* Euclidean (right);
all three find the same optimal path (violet).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22014180" y="11109960"/>
            <a:ext cx="10561320" cy="6446520"/>
          </a:xfrm>
          <a:prstGeom prst="rect">
            <a:avLst/>
          </a:prstGeom>
          <a:solidFill>
            <a:srgbClr val="FFFF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22014180" y="11109960"/>
            <a:ext cx="10561320" cy="6629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22197060" y="11201400"/>
            <a:ext cx="10195560" cy="52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PERFORMANCE RESULTS &amp; BENCHMARK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22242780" y="11864340"/>
            <a:ext cx="10104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2E"/>
                </a:solidFill>
              </a:rPr>
              <a:t>Benchmark on a 10×10 square grid (seed = 42). All three algorithms return the same optimal path of length 37. Node expansion is the key efficiency differentiator:</a:t>
            </a:r>
          </a:p>
        </p:txBody>
      </p:sp>
      <p:sp>
        <p:nvSpPr>
          <p:cNvPr id="422" name="Rectangle 421"/>
          <p:cNvSpPr/>
          <p:nvPr/>
        </p:nvSpPr>
        <p:spPr>
          <a:xfrm>
            <a:off x="22791420" y="12778740"/>
            <a:ext cx="2286000" cy="8229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22791420" y="124129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84C7"/>
                </a:solidFill>
              </a:rPr>
              <a:t>55</a:t>
            </a:r>
          </a:p>
        </p:txBody>
      </p:sp>
      <p:sp>
        <p:nvSpPr>
          <p:cNvPr id="424" name="Rectangle 423"/>
          <p:cNvSpPr/>
          <p:nvPr/>
        </p:nvSpPr>
        <p:spPr>
          <a:xfrm>
            <a:off x="26357580" y="12973257"/>
            <a:ext cx="2286000" cy="62844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TextBox 424"/>
          <p:cNvSpPr txBox="1"/>
          <p:nvPr/>
        </p:nvSpPr>
        <p:spPr>
          <a:xfrm>
            <a:off x="26357580" y="1260749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59669"/>
                </a:solidFill>
              </a:rPr>
              <a:t>42</a:t>
            </a:r>
          </a:p>
        </p:txBody>
      </p:sp>
      <p:sp>
        <p:nvSpPr>
          <p:cNvPr id="426" name="Rectangle 425"/>
          <p:cNvSpPr/>
          <p:nvPr/>
        </p:nvSpPr>
        <p:spPr>
          <a:xfrm>
            <a:off x="29923740" y="12973257"/>
            <a:ext cx="2286000" cy="628442"/>
          </a:xfrm>
          <a:prstGeom prst="rect">
            <a:avLst/>
          </a:prstGeom>
          <a:solidFill>
            <a:srgbClr val="DC6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TextBox 426"/>
          <p:cNvSpPr txBox="1"/>
          <p:nvPr/>
        </p:nvSpPr>
        <p:spPr>
          <a:xfrm>
            <a:off x="29923740" y="1260749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6803"/>
                </a:solidFill>
              </a:rPr>
              <a:t>42</a:t>
            </a:r>
          </a:p>
        </p:txBody>
      </p:sp>
      <p:sp>
        <p:nvSpPr>
          <p:cNvPr id="428" name="Rectangle 427"/>
          <p:cNvSpPr/>
          <p:nvPr/>
        </p:nvSpPr>
        <p:spPr>
          <a:xfrm>
            <a:off x="22471380" y="13601700"/>
            <a:ext cx="9646920" cy="1270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TextBox 428"/>
          <p:cNvSpPr txBox="1"/>
          <p:nvPr/>
        </p:nvSpPr>
        <p:spPr>
          <a:xfrm>
            <a:off x="22562820" y="136931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84C7"/>
                </a:solidFill>
              </a:rPr>
              <a:t>Dijkstra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26128980" y="136931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</a:rPr>
              <a:t>A* Manhattan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29695140" y="136931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C6803"/>
                </a:solidFill>
              </a:rPr>
              <a:t>A* Euclidean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22242780" y="14058900"/>
            <a:ext cx="10104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A4A6A"/>
                </a:solidFill>
              </a:rPr>
              <a:t>Nodes Expanded  (lower = more efficient)</a:t>
            </a:r>
          </a:p>
        </p:txBody>
      </p:sp>
      <p:sp>
        <p:nvSpPr>
          <p:cNvPr id="433" name="Rectangle 432"/>
          <p:cNvSpPr/>
          <p:nvPr/>
        </p:nvSpPr>
        <p:spPr>
          <a:xfrm>
            <a:off x="22151340" y="14424660"/>
            <a:ext cx="10287000" cy="4572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TextBox 433"/>
          <p:cNvSpPr txBox="1"/>
          <p:nvPr/>
        </p:nvSpPr>
        <p:spPr>
          <a:xfrm>
            <a:off x="22242780" y="144932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Algorithm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26014680" y="144932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Path Length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28643580" y="144932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Nodes Expanded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22242780" y="1495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84C7"/>
                </a:solidFill>
              </a:rPr>
              <a:t>Dijkstra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26014680" y="149504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A4A6A"/>
                </a:solidFill>
              </a:rPr>
              <a:t>37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28643580" y="149504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284C7"/>
                </a:solidFill>
              </a:rPr>
              <a:t>55</a:t>
            </a:r>
          </a:p>
        </p:txBody>
      </p:sp>
      <p:sp>
        <p:nvSpPr>
          <p:cNvPr id="440" name="Rectangle 439"/>
          <p:cNvSpPr/>
          <p:nvPr/>
        </p:nvSpPr>
        <p:spPr>
          <a:xfrm>
            <a:off x="22151340" y="15339060"/>
            <a:ext cx="10287000" cy="457200"/>
          </a:xfrm>
          <a:prstGeom prst="rect">
            <a:avLst/>
          </a:prstGeom>
          <a:solidFill>
            <a:srgbClr val="F9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TextBox 440"/>
          <p:cNvSpPr txBox="1"/>
          <p:nvPr/>
        </p:nvSpPr>
        <p:spPr>
          <a:xfrm>
            <a:off x="22242780" y="15407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</a:rPr>
              <a:t>A* Manhattan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26014680" y="154076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A4A6A"/>
                </a:solidFill>
              </a:rPr>
              <a:t>37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28643580" y="154076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59669"/>
                </a:solidFill>
              </a:rPr>
              <a:t>42  ↓ 24%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22242780" y="15864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6803"/>
                </a:solidFill>
              </a:rPr>
              <a:t>A* Euclidean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26014680" y="158648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A4A6A"/>
                </a:solidFill>
              </a:rPr>
              <a:t>37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28643580" y="158648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C6803"/>
                </a:solidFill>
              </a:rPr>
              <a:t>42  ↓ 24%</a:t>
            </a:r>
          </a:p>
        </p:txBody>
      </p:sp>
      <p:sp>
        <p:nvSpPr>
          <p:cNvPr id="447" name="Rectangle 446"/>
          <p:cNvSpPr/>
          <p:nvPr/>
        </p:nvSpPr>
        <p:spPr>
          <a:xfrm>
            <a:off x="22151340" y="16253460"/>
            <a:ext cx="10287000" cy="2057400"/>
          </a:xfrm>
          <a:prstGeom prst="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22334220" y="16390620"/>
            <a:ext cx="9921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KEY INSIGHT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22334220" y="16756380"/>
            <a:ext cx="9921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C2E"/>
                </a:solidFill>
              </a:rPr>
              <a:t>A* reduces node expansions by ~24% compared to Dijkstra while always guaranteeing the same optimal path — a direct, measurable benefit of informed search with an admissible heuristic.</a:t>
            </a:r>
          </a:p>
        </p:txBody>
      </p:sp>
      <p:sp>
        <p:nvSpPr>
          <p:cNvPr id="450" name="Rectangle 449"/>
          <p:cNvSpPr/>
          <p:nvPr/>
        </p:nvSpPr>
        <p:spPr>
          <a:xfrm>
            <a:off x="0" y="20413980"/>
            <a:ext cx="32918400" cy="15316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TextBox 450"/>
          <p:cNvSpPr txBox="1"/>
          <p:nvPr/>
        </p:nvSpPr>
        <p:spPr>
          <a:xfrm>
            <a:off x="457200" y="205511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457200" y="20962620"/>
            <a:ext cx="3154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CAE9"/>
                </a:solidFill>
              </a:rPr>
              <a:t>1.  Hart, P. E., Nilsson, N. J., &amp; Raphael, B. (1968). A formal basis for the heuristic determination of minimum cost paths. IEEE Transactions on Systems Science and Cybernetics, 4(2), 100–107.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457200" y="21374100"/>
            <a:ext cx="3154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CAE9"/>
                </a:solidFill>
              </a:rPr>
              <a:t>2.  Russell, S., &amp; Norvig, P. (2020). Artificial Intelligence: A Modern Approach (4th ed.). Pearson. Ch. 3: Solving Problems by Searching.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